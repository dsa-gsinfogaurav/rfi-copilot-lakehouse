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2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554480"/>
            <a:ext cx="10820095" cy="10058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Helvetica Neue"/>
              </a:rPr>
              <a:t>Answer RFIs before they become delays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97480"/>
            <a:ext cx="9601200" cy="67437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1700" b="1">
                <a:solidFill>
                  <a:srgbClr val="C6D2DA"/>
                </a:solidFill>
                <a:latin typeface="Helvetica Neue"/>
              </a:rPr>
              <a:t>RFI Copilot for Summit Ridge Builders</a:t>
            </a:r>
            <a:r>
              <a:rPr sz="1700" b="0">
                <a:solidFill>
                  <a:srgbClr val="C6D2DA"/>
                </a:solidFill>
                <a:latin typeface="Helvetica Neue"/>
              </a:rPr>
              <a:t> · Engineering &amp; Construction · General contractor, 8 active and recent projects, $995M contract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627882"/>
            <a:ext cx="9601200" cy="965835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1700" b="1">
                <a:solidFill>
                  <a:srgbClr val="C6D2DA"/>
                </a:solidFill>
                <a:latin typeface="Helvetica Neue"/>
              </a:rPr>
              <a:t>About $1.6M a year in protected margin, roughly half a point of operating margin.</a:t>
            </a:r>
            <a:r>
              <a:rPr sz="1700" b="0">
                <a:solidFill>
                  <a:srgbClr val="C6D2DA"/>
                </a:solidFill>
                <a:latin typeface="Helvetica Neue"/>
              </a:rPr>
              <a:t> RFI response time drops from 7.9 to 6 days. RFIs likely to miss their SLA are flagged the day they are submitted, before the delay reaches the critical path and the bonus scorecard.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849749"/>
            <a:ext cx="9601200" cy="67437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1700" b="0" i="1">
                <a:solidFill>
                  <a:srgbClr val="C6D2DA"/>
                </a:solidFill>
                <a:latin typeface="Helvetica Neue"/>
              </a:rPr>
              <a:t>Built end to end on the Databricks Data Intelligence Platform. All figures come from the working prototype running on synthetic but realistic portfolio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2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2600" b="1">
                <a:solidFill>
                  <a:srgbClr val="14202B"/>
                </a:solidFill>
                <a:latin typeface="Helvetica Neue"/>
              </a:rPr>
              <a:t>Why we are here: the industry is losing margin to late information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34440"/>
          <a:ext cx="10820094" cy="2483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7239"/>
                <a:gridCol w="4902855"/>
              </a:tblGrid>
              <a:tr h="29229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What the industry data shows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Source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</a:tr>
              <a:tr h="29229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Large projects typically finish </a:t>
                      </a:r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20% late</a:t>
                      </a:r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 and run </a:t>
                      </a:r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up to 80% over budget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McKinsey Global Institute, </a:t>
                      </a:r>
                      <a:r>
                        <a:rPr sz="1150" b="0" i="1">
                          <a:solidFill>
                            <a:srgbClr val="14202B"/>
                          </a:solidFill>
                          <a:latin typeface="Helvetica Neue"/>
                        </a:rPr>
                        <a:t>Reinventing Construction</a:t>
                      </a:r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 (2017)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47485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Construction productivity grew about </a:t>
                      </a:r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1% a year</a:t>
                      </a:r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 for two decades, versus 2.8% for the world economy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McKinsey Global Institute (2017)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</a:tr>
              <a:tr h="47485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Project teams spend </a:t>
                      </a:r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35% of their time</a:t>
                      </a:r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 (over 14 hours a week) searching for information, resolving conflicts and fixing rework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FMI &amp; PlanGrid, </a:t>
                      </a:r>
                      <a:r>
                        <a:rPr sz="1150" b="0" i="1">
                          <a:solidFill>
                            <a:srgbClr val="14202B"/>
                          </a:solidFill>
                          <a:latin typeface="Helvetica Neue"/>
                        </a:rPr>
                        <a:t>Construction Disconnected</a:t>
                      </a:r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 (2018)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47485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Bad data cost the industry an estimated </a:t>
                      </a:r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$1.8 trillion</a:t>
                      </a:r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 in 2020, and about </a:t>
                      </a:r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14% of rework</a:t>
                      </a:r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 traces to bad data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Autodesk &amp; FMI, </a:t>
                      </a:r>
                      <a:r>
                        <a:rPr sz="1150" b="0" i="1">
                          <a:solidFill>
                            <a:srgbClr val="14202B"/>
                          </a:solidFill>
                          <a:latin typeface="Helvetica Neue"/>
                        </a:rPr>
                        <a:t>Harnessing the Data Advantage</a:t>
                      </a:r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 (2021)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</a:tr>
              <a:tr h="47485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The average project generates </a:t>
                      </a:r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796 RFIs</a:t>
                      </a:r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, each taking </a:t>
                      </a:r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9.7 days</a:t>
                      </a:r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 to answer and costing about </a:t>
                      </a:r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$1,080</a:t>
                      </a:r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 to process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Navigant Construction Forum (2013)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901313"/>
            <a:ext cx="10820095" cy="5257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1400" b="1">
                <a:solidFill>
                  <a:srgbClr val="14202B"/>
                </a:solidFill>
                <a:latin typeface="Helvetica Neue"/>
              </a:rPr>
              <a:t>What we see in Summit Ridge's own data: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47% of RFIs miss the design team's SLA, 44 of the 65 open RFIs are already late, and late critical-path RFIs carry </a:t>
            </a:r>
            <a:r>
              <a:rPr sz="1400" b="1">
                <a:solidFill>
                  <a:srgbClr val="14202B"/>
                </a:solidFill>
                <a:latin typeface="Helvetica Neue"/>
              </a:rPr>
              <a:t>$11.2M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of liquidated-damages exposure.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555109"/>
            <a:ext cx="10820095" cy="28575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1400" b="1">
                <a:solidFill>
                  <a:srgbClr val="14202B"/>
                </a:solidFill>
                <a:latin typeface="Helvetica Neue"/>
              </a:rPr>
              <a:t>The RFI is where late information turns into lost margin.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It is the moment a crew stops and waits.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271455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RFI Copilot · Summit Ridge Builders (synthetic data) · Databricks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2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2600" b="1">
                <a:solidFill>
                  <a:srgbClr val="14202B"/>
                </a:solidFill>
                <a:latin typeface="Helvetica Neue"/>
              </a:rPr>
              <a:t>Why invest now, and why build it on your own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20095" cy="245364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Contracts have shifted schedule risk onto the GC.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Harbor Point carries $60K/day in liquidated damages, so schedule certainty now decides both margin and the next bid.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AI can now read the contract documents.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In the prototype, retrieval finds the governing spec section for 95% of open RFIs and Claude drafts a cited answer, at pay-per-token cost.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The data already exists, just disconnected.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RFI logs, spec books, firm SLAs and schedules sit in Procore or ACC exports and PDFs. Unifying them once in a governed lakehouse also feeds the next use cases: submittals, change orders and schedule risk.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Building it beats buying a point tool.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Off-the-shelf RFI tools stop at the workflow. This keeps the data, the risk model, the AI and the audit trail inside the GC's own tenant, with no per-seat lock-in and the GC's history as the training set.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Waiting has a price.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Each quarter of the status quo forgoes about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$0.4M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of the $1.6M a year. Harbor Point is in its peak RFI phase right now (24 open, 15 already late).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271455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RFI Copilot · Summit Ridge Builders (synthetic data) · Databricks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2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2600" b="1">
                <a:solidFill>
                  <a:srgbClr val="14202B"/>
                </a:solidFill>
                <a:latin typeface="Helvetica Neue"/>
              </a:rPr>
              <a:t>The outcome, in your KPIs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34440"/>
          <a:ext cx="10820093" cy="2483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2274"/>
                <a:gridCol w="2885358"/>
                <a:gridCol w="2491900"/>
                <a:gridCol w="1770561"/>
              </a:tblGrid>
              <a:tr h="29229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KPI (portfolio)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Today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Target with RFI Copilot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Who feels it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</a:tr>
              <a:tr h="47485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Average days to answer an RFI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7.9 days</a:t>
                      </a:r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 (p90: 15 days)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≤ 6.0 days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Superintendents, crews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29229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RFIs that miss the contractual SLA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46.6%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≤ 30%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Project Executives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</a:tr>
              <a:tr h="47485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Liquidated-damages exposure from late critical-path RFIs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$11.2M</a:t>
                      </a:r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 since 2023 (≈ $3.2M/yr)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−30%</a:t>
                      </a:r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 (≈ $1.0M/yr avoided)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COO, CFO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47485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Change-order cost originating in RFIs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$16.8M</a:t>
                      </a:r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 (740 COs)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Root-cause feedback to preconstruction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Preconstruction, Estimating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</a:tr>
              <a:tr h="47485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Project-engineer time per RFI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≈ $1,080 of handling cost per RFI (industry)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−35% with triage + cited AI drafts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Project Engineers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901313"/>
            <a:ext cx="10820095" cy="28575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1400" b="1">
                <a:solidFill>
                  <a:srgbClr val="14202B"/>
                </a:solidFill>
                <a:latin typeface="Helvetica Neue"/>
              </a:rPr>
              <a:t>Value: about $1.6M per year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, which is roughly </a:t>
            </a:r>
            <a:r>
              <a:rPr sz="1400" b="1">
                <a:solidFill>
                  <a:srgbClr val="14202B"/>
                </a:solidFill>
                <a:latin typeface="Helvetica Neue"/>
              </a:rPr>
              <a:t>+0.5 points of operating margin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on this portfolio (slide 11).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271455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RFI Copilot · Summit Ridge Builders (synthetic data) · Databricks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2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2600" b="1">
                <a:solidFill>
                  <a:srgbClr val="14202B"/>
                </a:solidFill>
                <a:latin typeface="Helvetica Neue"/>
              </a:rPr>
              <a:t>What this does to the numbers each executive is paid 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34440"/>
          <a:ext cx="10820093" cy="23822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8715"/>
                <a:gridCol w="3169065"/>
                <a:gridCol w="3033248"/>
                <a:gridCol w="3169065"/>
              </a:tblGrid>
              <a:tr h="443103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Executive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Typically measured and paid on (confirm in discovery)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What RFI Copilot moves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Helvetica Neue"/>
                        </a:rPr>
                        <a:t>Impact in their terms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</a:tr>
              <a:tr h="443103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202B"/>
                          </a:solidFill>
                          <a:latin typeface="Helvetica Neue"/>
                        </a:rPr>
                        <a:t>COO / VP Operations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202B"/>
                          </a:solidFill>
                          <a:latin typeface="Helvetica Neue"/>
                        </a:rPr>
                        <a:t>Portfolio operating margin vs plan, on-time completion, repeat-owner work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202B"/>
                          </a:solidFill>
                          <a:latin typeface="Helvetica Neue"/>
                        </a:rPr>
                        <a:t>LD days avoided, faster answers, early escalation of high-risk RFIs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202B"/>
                          </a:solidFill>
                          <a:latin typeface="Helvetica Neue"/>
                        </a:rPr>
                        <a:t>≈ +0.5 pts of margin</a:t>
                      </a:r>
                      <a:r>
                        <a:rPr sz="1050" b="0">
                          <a:solidFill>
                            <a:srgbClr val="14202B"/>
                          </a:solidFill>
                          <a:latin typeface="Helvetica Neue"/>
                        </a:rPr>
                        <a:t> on ≈ $285M annual volume, about </a:t>
                      </a:r>
                      <a:r>
                        <a:rPr sz="1050" b="1">
                          <a:solidFill>
                            <a:srgbClr val="14202B"/>
                          </a:solidFill>
                          <a:latin typeface="Helvetica Neue"/>
                        </a:rPr>
                        <a:t>+14% net profit</a:t>
                      </a:r>
                      <a:r>
                        <a:rPr sz="1050" b="0">
                          <a:solidFill>
                            <a:srgbClr val="14202B"/>
                          </a:solidFill>
                          <a:latin typeface="Helvetica Neue"/>
                        </a:rPr>
                        <a:t> at a 4% net margin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60979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202B"/>
                          </a:solidFill>
                          <a:latin typeface="Helvetica Neue"/>
                        </a:rPr>
                        <a:t>CFO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202B"/>
                          </a:solidFill>
                          <a:latin typeface="Helvetica Neue"/>
                        </a:rPr>
                        <a:t>Net margin vs forecast (no quarter-end fade), forecast accuracy, cash from approved change orders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202B"/>
                          </a:solidFill>
                          <a:latin typeface="Helvetica Neue"/>
                        </a:rPr>
                        <a:t>PCOs flagged at the RFI; schedule risk visible weeks earlier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202B"/>
                          </a:solidFill>
                          <a:latin typeface="Helvetica Neue"/>
                        </a:rPr>
                        <a:t>$16.8M of RFI-driven change orders priced and submitted while the GC still has leverage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</a:tr>
              <a:tr h="443103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202B"/>
                          </a:solidFill>
                          <a:latin typeface="Helvetica Neue"/>
                        </a:rPr>
                        <a:t>Project Executive</a:t>
                      </a:r>
                      <a:r>
                        <a:rPr sz="1050" b="0">
                          <a:solidFill>
                            <a:srgbClr val="14202B"/>
                          </a:solidFill>
                          <a:latin typeface="Helvetica Neue"/>
                        </a:rPr>
                        <a:t> (Harbor Point)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202B"/>
                          </a:solidFill>
                          <a:latin typeface="Helvetica Neue"/>
                        </a:rPr>
                        <a:t>Project fee and gross-profit fade, milestone dates, owner satisfaction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202B"/>
                          </a:solidFill>
                          <a:latin typeface="Helvetica Neue"/>
                        </a:rPr>
                        <a:t>Day-one risk ranking; approver sign-off on high-stakes answers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202B"/>
                          </a:solidFill>
                          <a:latin typeface="Helvetica Neue"/>
                        </a:rPr>
                        <a:t>Each critical-path week avoided = </a:t>
                      </a:r>
                      <a:r>
                        <a:rPr sz="1050" b="1">
                          <a:solidFill>
                            <a:srgbClr val="14202B"/>
                          </a:solidFill>
                          <a:latin typeface="Helvetica Neue"/>
                        </a:rPr>
                        <a:t>$420K of LDs, about 3% of a 5% fee</a:t>
                      </a:r>
                      <a:r>
                        <a:rPr sz="1050" b="0">
                          <a:solidFill>
                            <a:srgbClr val="14202B"/>
                          </a:solidFill>
                          <a:latin typeface="Helvetica Neue"/>
                        </a:rPr>
                        <a:t> on a $310M job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443103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202B"/>
                          </a:solidFill>
                          <a:latin typeface="Helvetica Neue"/>
                        </a:rPr>
                        <a:t>Director of Project Controls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202B"/>
                          </a:solidFill>
                          <a:latin typeface="Helvetica Neue"/>
                        </a:rPr>
                        <a:t>EAC forecast accuracy, change-order cycle time, reporting effort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202B"/>
                          </a:solidFill>
                          <a:latin typeface="Helvetica Neue"/>
                        </a:rPr>
                        <a:t>Governed RFI facts, Genie answers, complete audit trail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202B"/>
                          </a:solidFill>
                          <a:latin typeface="Helvetica Neue"/>
                        </a:rPr>
                        <a:t>A weekly risk review on live data instead of spreadsheets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799522"/>
            <a:ext cx="10820095" cy="5257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1400" b="1">
                <a:solidFill>
                  <a:srgbClr val="14202B"/>
                </a:solidFill>
                <a:latin typeface="Helvetica Neue"/>
              </a:rPr>
              <a:t>Margin fade and missed milestones are the two things that cut these executives' annual incentive.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RFI Copilot attacks both at the RFI, where a large share of the fade begins.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271455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RFI Copilot · Summit Ridge Builders (synthetic data) · Databricks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2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2600" b="1">
                <a:solidFill>
                  <a:srgbClr val="14202B"/>
                </a:solidFill>
                <a:latin typeface="Helvetica Neue"/>
              </a:rPr>
              <a:t>The problem: RFIs are a hidden schedule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20095" cy="1627632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4202B"/>
                </a:solidFill>
                <a:latin typeface="Helvetica Neue"/>
              </a:rPr>
              <a:t>3,795 RFIs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across 8 projects. </a:t>
            </a:r>
            <a:r>
              <a:rPr sz="1400" b="1">
                <a:solidFill>
                  <a:srgbClr val="14202B"/>
                </a:solidFill>
                <a:latin typeface="Helvetica Neue"/>
              </a:rPr>
              <a:t>65 are open right now, and 44 of them are already past SLA.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202B"/>
                </a:solidFill>
                <a:latin typeface="Helvetica Neue"/>
              </a:rPr>
              <a:t>•  Half of all RFIs miss the design team's contractual response window (7 days, or 3 days if urgent).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202B"/>
                </a:solidFill>
                <a:latin typeface="Helvetica Neue"/>
              </a:rPr>
              <a:t>•  When a late RFI sits on a </a:t>
            </a:r>
            <a:r>
              <a:rPr sz="1400" b="1">
                <a:solidFill>
                  <a:srgbClr val="14202B"/>
                </a:solidFill>
                <a:latin typeface="Helvetica Neue"/>
              </a:rPr>
              <a:t>critical-path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activity, every day it slips becomes a liquidated-damages day: $25K/day at Lakeside Hospital and $60K/day at Harbor Point.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202B"/>
                </a:solidFill>
                <a:latin typeface="Helvetica Neue"/>
              </a:rPr>
              <a:t>•  Project engineers triage by gut feel and re-type answers that already exist in the spec book. Leadership has no portfolio view of which firm, discipline or document gap is driving the cost.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271455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RFI Copilot · Summit Ridge Builders (synthetic data) · Databricks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2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2600" b="1">
                <a:solidFill>
                  <a:srgbClr val="14202B"/>
                </a:solidFill>
                <a:latin typeface="Helvetica Neue"/>
              </a:rPr>
              <a:t>Where it hurts most (from the gold tables and Genie)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34440"/>
          <a:ext cx="10820091" cy="116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5648"/>
                <a:gridCol w="972592"/>
                <a:gridCol w="1823611"/>
                <a:gridCol w="972592"/>
                <a:gridCol w="1215741"/>
                <a:gridCol w="972592"/>
                <a:gridCol w="1337315"/>
              </a:tblGrid>
              <a:tr h="29229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Project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RFIs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Open / past SLA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Avg days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SLA breach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CO cost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LD exposure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</a:tr>
              <a:tr h="29229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Harbor Point Data Center Ph 2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778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24 / 15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10.5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66%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$3.2M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$7.6M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29229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Lakeside Regional Hospital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846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8 / 4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8.5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53%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$4.2M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$2.6M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</a:tr>
              <a:tr h="29229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Union Station Mixed-Use Tower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537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6 / 5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7.3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42%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$2.2M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$0.8M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2586482"/>
            <a:ext cx="10820095" cy="157276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4202B"/>
                </a:solidFill>
                <a:latin typeface="Helvetica Neue"/>
              </a:rPr>
              <a:t>Design firms: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the MEP and fire-protection engineers breach SLA 57–65% of the time, versus 21–36% for civil and structural.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4202B"/>
                </a:solidFill>
                <a:latin typeface="Helvetica Neue"/>
              </a:rPr>
              <a:t>Root cause (Gen AI on every RFI):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spec ambiguity is 28% of volume, and field conditions plus design conflicts drive </a:t>
            </a:r>
            <a:r>
              <a:rPr sz="1400" b="1">
                <a:solidFill>
                  <a:srgbClr val="14202B"/>
                </a:solidFill>
                <a:latin typeface="Helvetica Neue"/>
              </a:rPr>
              <a:t>$10.3M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of change-order cost.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4202B"/>
                </a:solidFill>
                <a:latin typeface="Helvetica Neue"/>
              </a:rPr>
              <a:t>Implication: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two projects and two design firms account for most of the exposure, and those two Project Executives carry most of the bonus risk. That is where to start.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271455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RFI Copilot · Summit Ridge Builders (synthetic data) · Databricks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2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2600" b="1">
                <a:solidFill>
                  <a:srgbClr val="14202B"/>
                </a:solidFill>
                <a:latin typeface="Helvetica Neue"/>
              </a:rPr>
              <a:t>What changes for the project team (domain owner)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20095" cy="5257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1400" b="1">
                <a:solidFill>
                  <a:srgbClr val="14202B"/>
                </a:solidFill>
                <a:latin typeface="Helvetica Neue"/>
              </a:rPr>
              <a:t>Today: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an RFI arrives by email or in Procore. The PE reads it, searches the spec PDF, types an answer, forwards it to the architect and chases it in a spreadsheet.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88236"/>
            <a:ext cx="10820095" cy="28575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1400" b="1">
                <a:solidFill>
                  <a:srgbClr val="14202B"/>
                </a:solidFill>
                <a:latin typeface="Helvetica Neue"/>
              </a:rPr>
              <a:t>With RFI Copilot: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02002"/>
            <a:ext cx="10820095" cy="2726436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1.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One inbox ranked by risk.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Every open RFI shows the ML probability that the design team will miss the SLA, the expected days to answer, and </a:t>
            </a:r>
            <a:r>
              <a:rPr sz="1300" b="0" i="1">
                <a:solidFill>
                  <a:srgbClr val="14202B"/>
                </a:solidFill>
                <a:latin typeface="Helvetica Neue"/>
              </a:rPr>
              <a:t>why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(for example, "MEP firm breaches more often · 26 RFIs on this project in 14 days · no drawing attached").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2.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Triage gate.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If the spec already answers it, the PE closes it in one click and it never reaches the design team. About 28% of RFIs are spec-ambiguity questions.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3.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A cited draft is waiting.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Vector Search finds the governing spec section, and Claude drafts a response that cites it (for example, "per 21 13 13"). The PE edits and approves it.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4.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Approver sign-off (human in the loop).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High-risk, urgent or cost/schedule-impacting responses stop in an Approvers queue for a named Project Executive, who signs off or returns them with a comment. Low-risk answers go straight to the design firm.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5.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Route, flag a PCO, close.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Every action shows a live trace (Lakebase commit in about 5 ms, then the audit job merging into Delta) and lands in the RFI's audit trail.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6.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Ask Genie.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"Which open RFIs on Harbor Point will miss SLA?" returns a plain-English answer plus the SQL behind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6473952"/>
            <a:ext cx="10271455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RFI Copilot · Summit Ridge Builders (synthetic data) · Databricks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69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2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2600" b="1">
                <a:solidFill>
                  <a:srgbClr val="14202B"/>
                </a:solidFill>
                <a:latin typeface="Helvetica Neue"/>
              </a:rPr>
              <a:t>How it works: one integrated data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20095" cy="294436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1.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Lakeflow: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Auto Loader ingests the nightly PM-system exports (RFI logs as JSON, design-firm SLAs as CSV, the spec book as Markdown) into bronze, silver and gold tables. Expectations removed 49 defective or duplicate records in the latest run.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2.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Unity Catalog: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tags, descriptions, a column mask that hides change-order dollars from anyone outside finance, least-privilege grants to the app, and automatic lineage (19 table-to-table edges captured).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3.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ML: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an SLA-breach classifier and a days-to-answer model, tracked in MLflow, registered in Unity Catalog as </a:t>
            </a:r>
            <a:r>
              <a:rPr sz="1200" b="0">
                <a:solidFill>
                  <a:srgbClr val="14202B"/>
                </a:solidFill>
                <a:latin typeface="Menlo"/>
              </a:rPr>
              <a:t>@champion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, and run nightly to score every open RFI.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4.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Gen AI: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</a:t>
            </a:r>
            <a:r>
              <a:rPr sz="1200" b="0">
                <a:solidFill>
                  <a:srgbClr val="14202B"/>
                </a:solidFill>
                <a:latin typeface="Menlo"/>
              </a:rPr>
              <a:t>ai_classify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assigns a root cause to every RFI. A Vector Search index over the spec book plus Claude (Foundation Model API) produces cited drafts.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5.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Lakebase: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a synced table serves the inbox to the app in about 6 ms. App decisions are Postgres transactions that a Lakeflow Job merges back into a governed Delta audit table.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6.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Genie + Databricks App: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a Genie space over the gold, ML, root-cause and audit tables, and the RFI Copilot app for the project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315968"/>
            <a:ext cx="10820095" cy="28575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1400" b="1">
                <a:solidFill>
                  <a:srgbClr val="14202B"/>
                </a:solidFill>
                <a:latin typeface="Helvetica Neue"/>
              </a:rPr>
              <a:t>Everything is one Asset Bundle: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</a:t>
            </a:r>
            <a:r>
              <a:rPr sz="1300" b="0">
                <a:solidFill>
                  <a:srgbClr val="14202B"/>
                </a:solidFill>
                <a:latin typeface="Menlo"/>
              </a:rPr>
              <a:t>databricks bundle deploy &amp;&amp; databricks bundle run rfi_build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271455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RFI Copilot · Summit Ridge Builders (synthetic data) · Databricks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2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2600" b="1">
                <a:solidFill>
                  <a:srgbClr val="14202B"/>
                </a:solidFill>
                <a:latin typeface="Helvetica Neue"/>
              </a:rPr>
              <a:t>Proof it works (prototype results)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34440"/>
          <a:ext cx="10820095" cy="2995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6945"/>
                <a:gridCol w="8323150"/>
              </a:tblGrid>
              <a:tr h="29229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Capability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Result from the latest end-to-end run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</a:tr>
              <a:tr h="47485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Lakeflow data quality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3,844 raw records → 3,795 clean: 15 unknown-project and 15 invalid-discipline rows dropped by expectations, 19 duplicate re-sends removed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29229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ML: who will miss SLA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AUC </a:t>
                      </a:r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0.74</a:t>
                      </a:r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 on a time-based holdout; </a:t>
                      </a:r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77% precision in the top-20% risk band vs a 47% base rate (1.64× lift)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</a:tr>
              <a:tr h="29229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ML: days to answer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MAE 3.5 days vs 4.1 days for a naive baseline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29229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Gen AI retrieval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The governing spec section was retrieved for </a:t>
                      </a:r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95%</a:t>
                      </a:r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 of open RFIs (hit@4)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</a:tr>
              <a:tr h="29229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Gen AI drafts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65 of 65 drafts generated; 64 of 65 cite only spec sections present in the retrieved context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29229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Gen AI root cause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202B"/>
                          </a:solidFill>
                          <a:latin typeface="Menlo"/>
                        </a:rPr>
                        <a:t>ai_classify</a:t>
                      </a:r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 agrees with the ground-truth label for 74% of 3,795 RFIs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</a:tr>
              <a:tr h="292290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Lakebase serving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Point reads </a:t>
                      </a:r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p50 5.8 ms / p95 8.1 ms</a:t>
                      </a:r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; app writes commit in about 5 ms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47485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Genie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6 of 6 executive questions answered with generated SQL (overdue by project, firm speed, design-conflict CO cost, LD exposure)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6473952"/>
            <a:ext cx="10271455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RFI Copilot · Summit Ridge Builders (synthetic data) · Databricks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2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2600" b="1">
                <a:solidFill>
                  <a:srgbClr val="14202B"/>
                </a:solidFill>
                <a:latin typeface="Helvetica Neue"/>
              </a:rPr>
              <a:t>Value model (annualized), translated into margin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34440"/>
          <a:ext cx="10820092" cy="2483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944"/>
                <a:gridCol w="3749537"/>
                <a:gridCol w="3749537"/>
                <a:gridCol w="1714074"/>
              </a:tblGrid>
              <a:tr h="29229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Lever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Mechanism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Assumption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Annual value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</a:tr>
              <a:tr h="47485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Avoided liquidated damages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Escalate high-risk critical-path RFIs at submission, days before the SLA lapses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30% of the ≈ $3.2M/yr LD exposure from late critical-path RFIs avoided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≈ $0.96M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47485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Project-engineer productivity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Triage gate + cited drafts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≈ 1,085 RFIs/yr × $1,080 handling cost × 35% saved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≈ $0.41M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</a:tr>
              <a:tr h="47485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Fewer RFI-driven change orders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Root-cause feedback to preconstruction (design conflicts + missing information)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10% of ≈ $1.9M/yr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≈ $0.19M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29229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Total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≈ $1.6M / yr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</a:tr>
              <a:tr h="474853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In margin terms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≈ $285M annual construction volume ($995M over ≈ 3.5 years)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4% net margin ≈ $11.4M profit/yr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≈ +0.5 pts margin, ≈ +14% profit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901313"/>
            <a:ext cx="10820095" cy="5257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1400" b="0" i="1">
                <a:solidFill>
                  <a:srgbClr val="14202B"/>
                </a:solidFill>
                <a:latin typeface="Helvetica Neue"/>
              </a:rPr>
              <a:t>Annual values are history total ÷ 3.5 years. Every assumption, including volume and net margin, is a parameter to validate in discovery and the pilot.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271455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RFI Copilot · Summit Ridge Builders (synthetic data) · Databricks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2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2600" b="1">
                <a:solidFill>
                  <a:srgbClr val="14202B"/>
                </a:solidFill>
                <a:latin typeface="Helvetica Neue"/>
              </a:rPr>
              <a:t>For the executive sponsor (COO / VP Operations)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20095" cy="26212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4202B"/>
                </a:solidFill>
                <a:latin typeface="Helvetica Neue"/>
              </a:rPr>
              <a:t>Protects the number on your scorecard.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About half a point of portfolio operating margin, from LD days that never happen and engineering hours that go back into the work, tracked per project in governed tables.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4202B"/>
                </a:solidFill>
                <a:latin typeface="Helvetica Neue"/>
              </a:rPr>
              <a:t>No quarter-end surprises.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High-risk RFIs are visible the day they are submitted, not when the fade shows up in the monthly forecast. Genie answers "where are we exposed?" without waiting on an analyst.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4202B"/>
                </a:solidFill>
                <a:latin typeface="Helvetica Neue"/>
              </a:rPr>
              <a:t>Leverage with design firms.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Firm-level SLA performance (one specialty engineer breaches 65% of the time) gives you facts for fee negotiations and the next selection.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4202B"/>
                </a:solidFill>
                <a:latin typeface="Helvetica Neue"/>
              </a:rPr>
              <a:t>Delivery reputation wins work.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On-time milestones on LD-heavy jobs like Harbor Point are what earn repeat owners and the next negotiated contract.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4202B"/>
                </a:solidFill>
                <a:latin typeface="Helvetica Neue"/>
              </a:rPr>
              <a:t>Low-risk platform choice.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One governed platform for data, ML, Gen AI, the app database and BI, running on the GC's existing Databricks account.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271455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RFI Copilot · Summit Ridge Builders (synthetic data) · Databricks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2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2600" b="1">
                <a:solidFill>
                  <a:srgbClr val="14202B"/>
                </a:solidFill>
                <a:latin typeface="Helvetica Neue"/>
              </a:rPr>
              <a:t>For the domain owner (Director of Project Controls / Project Executives)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20095" cy="2508504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Defends your project's fee.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A week of critical-path slip at Harbor Point costs $420K, about 3% of the fee. The risk-ranked inbox makes sure those RFIs are chased first.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Forecasts you can stand behind.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RFI-driven PCOs are flagged at the RFI, so the EAC carries them weeks before close-out.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Less typing, same control.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AI drafts are always reviewed and approved by a person. Citations show exactly which spec section supports the answer, and gaps are flagged instead of guessed.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Fewer RFIs reach the design team.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The triage gate closes the ones the contract documents already answer.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Audit trail by default.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Every approve, route, PCO flag or close is a timestamped event in Lakebase, mirrored to a governed Delta table and queryable in Genie.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Fits existing tools.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Ingestion reads the PM system's exports (Procore and Autodesk Construction Cloud style), so no new data entry is required.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271455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RFI Copilot · Summit Ridge Builders (synthetic data) · Databricks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2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2600" b="1">
                <a:solidFill>
                  <a:srgbClr val="14202B"/>
                </a:solidFill>
                <a:latin typeface="Helvetica Neue"/>
              </a:rPr>
              <a:t>Trust, governance and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20095" cy="26212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4202B"/>
                </a:solidFill>
                <a:latin typeface="Helvetica Neue"/>
              </a:rPr>
              <a:t>Unity Catalog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governs every table, model, index and the synced Lakebase table: lineage from raw file to app, tags, and descriptions.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4202B"/>
                </a:solidFill>
                <a:latin typeface="Helvetica Neue"/>
              </a:rPr>
              <a:t>Least privilege: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the app runs as its own service principal with SELECT on specific tables, CAN_USE on one warehouse, CAN_RUN on the Genie space, and INSERT on one Postgres table.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4202B"/>
                </a:solidFill>
                <a:latin typeface="Helvetica Neue"/>
              </a:rPr>
              <a:t>Sensitive dollars are masked: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change-order cost is NULL for anyone outside the finance group, enforced by a column-mask function. The build's own run shows the masked output.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4202B"/>
                </a:solidFill>
                <a:latin typeface="Helvetica Neue"/>
              </a:rPr>
              <a:t>Human in the loop: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AI drafts never go out without a person approving them. A policy gate (ML risk, AI-assessed impact, urgency, LD rate) adds a named approver for high-stakes answers, and sign-off turnaround is tracked. The decision log is append-only and synced to Delta.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4202B"/>
                </a:solidFill>
                <a:latin typeface="Helvetica Neue"/>
              </a:rPr>
              <a:t>•  </a:t>
            </a:r>
            <a:r>
              <a:rPr sz="1400" b="1">
                <a:solidFill>
                  <a:srgbClr val="14202B"/>
                </a:solidFill>
                <a:latin typeface="Helvetica Neue"/>
              </a:rPr>
              <a:t>No customer data: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the prototype uses synthetic data; a pilot would run inside the GC's own workspace.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271455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RFI Copilot · Summit Ridge Builders (synthetic data) · Databricks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2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2600" b="1">
                <a:solidFill>
                  <a:srgbClr val="14202B"/>
                </a:solidFill>
                <a:latin typeface="Helvetica Neue"/>
              </a:rPr>
              <a:t>90-day pilot, measured on the executive scorecard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234440"/>
          <a:ext cx="10820094" cy="2191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4870"/>
                <a:gridCol w="5117612"/>
                <a:gridCol w="5117612"/>
              </a:tblGrid>
              <a:tr h="29229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Weeks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Scope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Helvetica Neue"/>
                        </a:rPr>
                        <a:t>Success criteria</a:t>
                      </a:r>
                    </a:p>
                  </a:txBody>
                  <a:tcPr marL="73152" marR="73152" marT="36576" marB="36576" anchor="t">
                    <a:solidFill>
                      <a:srgbClr val="14202B"/>
                    </a:solidFill>
                  </a:tcPr>
                </a:tc>
              </a:tr>
              <a:tr h="47485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1–3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Connect Procore/ACC RFI exports and the spec book for </a:t>
                      </a:r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Harbor Point</a:t>
                      </a:r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 and </a:t>
                      </a:r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Lakeside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Daily Lakeflow ingest; gold KPIs match the PM system within 1%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47485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4–6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Risk model retrained on the GC's own history; Copilot rolled out to 6 project engineers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Top-20% risk band precision ≥ 70%; ≥ 60% of drafts approved with light edits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</a:tr>
              <a:tr h="47485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7–10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Genie space for project executives; weekly risk review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High-risk RFIs escalated ≥ 10 days before the SLA; executives use Genie weekly</a:t>
                      </a:r>
                    </a:p>
                  </a:txBody>
                  <a:tcPr marL="73152" marR="73152" marT="36576" marB="36576" anchor="t">
                    <a:solidFill>
                      <a:srgbClr val="FFFFFF"/>
                    </a:solidFill>
                  </a:tcPr>
                </a:tc>
              </a:tr>
              <a:tr h="474853"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11–13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Measure against the scorecard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Avg response ≤ 6 days; </a:t>
                      </a:r>
                      <a:r>
                        <a:rPr sz="1150" b="1">
                          <a:solidFill>
                            <a:srgbClr val="14202B"/>
                          </a:solidFill>
                          <a:latin typeface="Helvetica Neue"/>
                        </a:rPr>
                        <a:t>zero LD days from late RFIs on pilot projects; fee-fade trend flat or improving</a:t>
                      </a:r>
                      <a:r>
                        <a:rPr sz="1150" b="0">
                          <a:solidFill>
                            <a:srgbClr val="14202B"/>
                          </a:solidFill>
                          <a:latin typeface="Helvetica Neue"/>
                        </a:rPr>
                        <a:t>; go/no-go for all 8 projects</a:t>
                      </a:r>
                    </a:p>
                  </a:txBody>
                  <a:tcPr marL="73152" marR="73152" marT="36576" marB="36576" anchor="t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3609022"/>
            <a:ext cx="10820095" cy="5257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1400" b="1">
                <a:solidFill>
                  <a:srgbClr val="14202B"/>
                </a:solidFill>
                <a:latin typeface="Helvetica Neue"/>
              </a:rPr>
              <a:t>The ask:</a:t>
            </a:r>
            <a:r>
              <a:rPr sz="1400" b="0">
                <a:solidFill>
                  <a:srgbClr val="14202B"/>
                </a:solidFill>
                <a:latin typeface="Helvetica Neue"/>
              </a:rPr>
              <a:t> a sponsor (COO), a domain owner (Director of Project Controls), two pilot projects, read access to RFI exports and spec books, and </a:t>
            </a:r>
            <a:r>
              <a:rPr sz="1400" b="1">
                <a:solidFill>
                  <a:srgbClr val="14202B"/>
                </a:solidFill>
                <a:latin typeface="Helvetica Neue"/>
              </a:rPr>
              <a:t>the current incentive scorecard metrics, so the pilot reports in exactly those terms.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473952"/>
            <a:ext cx="10271455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RFI Copilot · Summit Ridge Builders (synthetic data) · Databricks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69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2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10820095" cy="64008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2600" b="1">
                <a:solidFill>
                  <a:srgbClr val="14202B"/>
                </a:solidFill>
                <a:latin typeface="Helvetica Neue"/>
              </a:rPr>
              <a:t>Appendix: assumptions and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0820095" cy="2944368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•  Portfolio, RFIs, firms and spec book are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synthetic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, produced by </a:t>
            </a:r>
            <a:r>
              <a:rPr sz="1200" b="0">
                <a:solidFill>
                  <a:srgbClr val="14202B"/>
                </a:solidFill>
                <a:latin typeface="Menlo"/>
              </a:rPr>
              <a:t>01_generate_raw_data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. The generator encodes realistic drivers: firm responsiveness, coordination load, missing drawings, priority, and a 12% critical-path rate.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•  Liquidated-damages exposure = schedule-impact days × the project's LD rate, counted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only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for critical-path RFIs.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•  Margin translation: annual volume ≈ $995M ÷ 3.5 years ≈ $285M; a 4% net margin is an illustrative assumption. Harbor Point fee is assumed at 5% of $310M (≈ $15.5M). Executive incentive metrics are typical of GC compensation plans and </a:t>
            </a:r>
            <a:r>
              <a:rPr sz="1300" b="1">
                <a:solidFill>
                  <a:srgbClr val="14202B"/>
                </a:solidFill>
                <a:latin typeface="Helvetica Neue"/>
              </a:rPr>
              <a:t>must be confirmed in discovery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•  Industry sources: McKinsey Global Institute, </a:t>
            </a:r>
            <a:r>
              <a:rPr sz="1300" b="0" i="1">
                <a:solidFill>
                  <a:srgbClr val="14202B"/>
                </a:solidFill>
                <a:latin typeface="Helvetica Neue"/>
              </a:rPr>
              <a:t>Reinventing Construction: A Route to Higher Productivity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(2017); FMI &amp; PlanGrid, </a:t>
            </a:r>
            <a:r>
              <a:rPr sz="1300" b="0" i="1">
                <a:solidFill>
                  <a:srgbClr val="14202B"/>
                </a:solidFill>
                <a:latin typeface="Helvetica Neue"/>
              </a:rPr>
              <a:t>Construction Disconnected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(2018); Autodesk &amp; FMI, </a:t>
            </a:r>
            <a:r>
              <a:rPr sz="1300" b="0" i="1">
                <a:solidFill>
                  <a:srgbClr val="14202B"/>
                </a:solidFill>
                <a:latin typeface="Helvetica Neue"/>
              </a:rPr>
              <a:t>Harnessing the Data Advantage in Construction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(2021); Navigant Construction Forum, </a:t>
            </a:r>
            <a:r>
              <a:rPr sz="1300" b="0" i="1">
                <a:solidFill>
                  <a:srgbClr val="14202B"/>
                </a:solidFill>
                <a:latin typeface="Helvetica Neue"/>
              </a:rPr>
              <a:t>Impact of Requests for Information on Construction Projects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 (2013).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•  Platform run cost (indicative, to be sized in the pilot): a nightly serverless pipeline and jobs, one small Lakebase instance, one Vector Search endpoint, a serverless SQL warehouse, and pay-per-token model calls.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4202B"/>
                </a:solidFill>
                <a:latin typeface="Helvetica Neue"/>
              </a:rPr>
              <a:t>•  Code, executed notebooks with outputs, and app smoke-test results: see the GitHub repository (</a:t>
            </a:r>
            <a:r>
              <a:rPr sz="1200" b="0">
                <a:solidFill>
                  <a:srgbClr val="14202B"/>
                </a:solidFill>
                <a:latin typeface="Menlo"/>
              </a:rPr>
              <a:t>evidence/</a:t>
            </a:r>
            <a:r>
              <a:rPr sz="1300" b="0">
                <a:solidFill>
                  <a:srgbClr val="14202B"/>
                </a:solidFill>
                <a:latin typeface="Helvetica Neue"/>
              </a:rPr>
              <a:t>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73952"/>
            <a:ext cx="10271455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RFI Copilot · Summit Ridge Builders (synthetic data) · Databricks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48695" y="6473952"/>
            <a:ext cx="457200" cy="228600"/>
          </a:xfrm>
          <a:prstGeom prst="rect">
            <a:avLst/>
          </a:prstGeom>
          <a:noFill/>
        </p:spPr>
        <p:txBody>
          <a:bodyPr wrap="square" lIns="0" rIns="0" tIns="18288" bIns="18288">
            <a:spAutoFit/>
          </a:bodyPr>
          <a:lstStyle/>
          <a:p>
            <a:r>
              <a:rPr sz="900" b="0">
                <a:solidFill>
                  <a:srgbClr val="8A97A3"/>
                </a:solidFill>
                <a:latin typeface="Helvetica Neue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